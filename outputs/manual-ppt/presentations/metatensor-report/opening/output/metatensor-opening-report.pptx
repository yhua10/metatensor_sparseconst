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953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B6C2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C2D9"/>
                </a:solidFill>
                <a:latin typeface="Aptos"/>
                <a:ea typeface="Aptos"/>
                <a:cs typeface="Aptos"/>
              </a:rPr>
              <a:t>科研课堂开题报告</a:t>
            </a:r>
            <a:endParaRPr sz="1275" b="1">
              <a:solidFill>
                <a:srgbClr val="B6C2D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200150"/>
            <a:ext cx="7429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面向 MetaTensor 框架的</a:t>
            </a:r>
            <a:endParaRPr sz="3450" b="1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稀疏常量乘法代码生成优化研究</a:t>
            </a:r>
            <a:endParaRPr sz="3450" b="1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289560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500" b="0">
                <a:solidFill>
                  <a:srgbClr val="D6DC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DCEB"/>
                </a:solidFill>
                <a:latin typeface="Aptos"/>
                <a:ea typeface="Aptos"/>
                <a:cs typeface="Aptos"/>
              </a:rPr>
              <a:t>把生成期可见的稀疏常量，转化为运行期更少的乘法和写入。</a:t>
            </a:r>
            <a:endParaRPr sz="1500" b="0">
              <a:solidFill>
                <a:srgbClr val="D6DC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3695700"/>
            <a:ext cx="1333500" cy="3429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76237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MetaTensor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209800" y="3695700"/>
            <a:ext cx="1333500" cy="3429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209800" y="376237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block2data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29050" y="3695700"/>
            <a:ext cx="1333500" cy="3429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29050" y="376237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C99 target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48300" y="3695700"/>
            <a:ext cx="1333500" cy="3429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448300" y="376237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sparse const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20100" y="1219200"/>
            <a:ext cx="2952750" cy="2190750"/>
          </a:xfrm>
          <a:prstGeom prst="rect">
            <a:avLst/>
          </a:prstGeom>
          <a:solidFill>
            <a:srgbClr val="101828"/>
          </a:solidFill>
          <a:ln w="9525">
            <a:solidFill>
              <a:srgbClr val="344054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91550" y="1371600"/>
            <a:ext cx="260985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目标表达式</a:t>
            </a:r>
            <a:endParaRPr sz="142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reduce_prod - (K &amp; X)</a:t>
            </a:r>
            <a:endParaRPr sz="142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endParaRPr sz="1425"/>
          </a:p>
          <a:p>
            <a:pPr algn="l">
              <a:def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数学含义</a:t>
            </a:r>
            <a:endParaRPr sz="142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Y[i] = K[i] * X[i]</a:t>
            </a:r>
            <a:endParaRPr sz="142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90550" y="592455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B6C2D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C2D9"/>
                </a:solidFill>
                <a:latin typeface="Aptos"/>
                <a:ea typeface="Aptos"/>
                <a:cs typeface="Aptos"/>
              </a:rPr>
              <a:t>项目仓库：metatensor-main</a:t>
            </a:r>
            <a:endParaRPr sz="1125" b="0">
              <a:solidFill>
                <a:srgbClr val="B6C2D9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B6C2D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C2D9"/>
                </a:solidFill>
                <a:latin typeface="Aptos"/>
                <a:ea typeface="Aptos"/>
                <a:cs typeface="Aptos"/>
              </a:rPr>
              <a:t>报告日期：2026.06.12</a:t>
            </a:r>
            <a:endParaRPr sz="1125" b="0">
              <a:solidFill>
                <a:srgbClr val="B6C2D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BACKGROUND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复杂张量计算需要先被表达，再被优化。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研究对象不是单个乘法函数，而是计算框架如何自动利用数据特征。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2209800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2209800"/>
            <a:ext cx="57150" cy="2095500"/>
          </a:xfrm>
          <a:prstGeom prst="rect">
            <a:avLst/>
          </a:prstGeom>
          <a:solidFill>
            <a:srgbClr val="E4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3812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手写底层代码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724150"/>
            <a:ext cx="27813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表达式、循环、数组访问和临时变量混在一起，维护成本高。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209800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14850" y="2209800"/>
            <a:ext cx="57150" cy="2095500"/>
          </a:xfrm>
          <a:prstGeom prst="rect">
            <a:avLst/>
          </a:prstGeom>
          <a:solidFill>
            <a:srgbClr val="C7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24400" y="23812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通用生成路径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24400" y="2724150"/>
            <a:ext cx="27813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能生成代码，但不会天然利用常量、稀疏性和重复结构。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2209800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2209800"/>
            <a:ext cx="57150" cy="20955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91550" y="23812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框架优化机会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91550" y="2724150"/>
            <a:ext cx="27813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统一中间表示让结构分析可以复用，并沉淀为插件能力。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90950" y="3257550"/>
            <a:ext cx="723900" cy="2857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58100" y="3257550"/>
            <a:ext cx="723900" cy="2857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257550" y="4953000"/>
            <a:ext cx="571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课题切入点：编译期可见的稀疏常量数组</a:t>
            </a:r>
            <a:endParaRPr sz="17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02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FRAMEWORK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MetaTensor 用中间结构连接计算表达和 C99 代码。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核心抽象分别承担数据描述、计算结构、目标后端和可插拔优化。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286000"/>
            <a:ext cx="2190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4193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datadesc</a:t>
            </a:r>
            <a:endParaRPr sz="1350" b="1">
              <a:solidFill>
                <a:srgbClr val="2F6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705100"/>
            <a:ext cx="1885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描述数据区域、类型、维度、索引和 offset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62350" y="2286000"/>
            <a:ext cx="2190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1E9A8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714750" y="24193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block</a:t>
            </a:r>
            <a:endParaRPr sz="1350" b="1">
              <a:solidFill>
                <a:srgbClr val="1E9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14750" y="2705100"/>
            <a:ext cx="1885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描述 [D]、[R]、[U]、导线和组合关系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62700" y="2286000"/>
            <a:ext cx="2190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7952D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15100" y="24193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plugin</a:t>
            </a:r>
            <a:endParaRPr sz="1350" b="1">
              <a:solidFill>
                <a:srgbClr val="C79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15100" y="2705100"/>
            <a:ext cx="1885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识别特殊结构并接管局部代码生成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63050" y="2286000"/>
            <a:ext cx="2190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E45D4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15450" y="24193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E45D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D4F"/>
                </a:solidFill>
                <a:latin typeface="Aptos"/>
                <a:ea typeface="Aptos"/>
                <a:cs typeface="Aptos"/>
              </a:rPr>
              <a:t>target_c99</a:t>
            </a:r>
            <a:endParaRPr sz="1350" b="1">
              <a:solidFill>
                <a:srgbClr val="E45D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15450" y="2705100"/>
            <a:ext cx="1885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查询目标类型并发射 C99 代码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52750" y="2943225"/>
            <a:ext cx="609600" cy="2857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753100" y="2943225"/>
            <a:ext cx="609600" cy="2857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53450" y="2943225"/>
            <a:ext cx="609600" cy="2857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095500" y="4476750"/>
            <a:ext cx="809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block2data 路径：计算 block → 输出 datadesc_set + 目标代码</a:t>
            </a:r>
            <a:endParaRPr sz="18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03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PROBLEM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稀疏常量乘法的零位置不应进入运行期计算。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K 是 region_direct 常量，代码生成阶段已经知道每个系数。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209800"/>
            <a:ext cx="4000500" cy="2190750"/>
          </a:xfrm>
          <a:prstGeom prst="rect">
            <a:avLst/>
          </a:prstGeom>
          <a:solidFill>
            <a:srgbClr val="101828"/>
          </a:solidFill>
          <a:ln w="9525">
            <a:solidFill>
              <a:srgbClr val="344054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2362200"/>
            <a:ext cx="365760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普通思路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for i in 0..N-1: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    out[i] = K[i] * x[i]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endParaRPr sz="1275"/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即使 K[i] = 0，也进入运行期逻辑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372350" y="2209800"/>
            <a:ext cx="4000500" cy="2190750"/>
          </a:xfrm>
          <a:prstGeom prst="rect">
            <a:avLst/>
          </a:prstGeom>
          <a:solidFill>
            <a:srgbClr val="101828"/>
          </a:solidFill>
          <a:ln w="9525">
            <a:solidFill>
              <a:srgbClr val="344054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543800" y="2362200"/>
            <a:ext cx="365760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优化思路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memset(out, 0, bytes)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for i where K[i] != 0: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    out[i] = K[i] * x[i]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endParaRPr sz="1275"/>
          </a:p>
          <a:p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零位置不生成赋值代码</a:t>
            </a:r>
            <a:endParaRPr sz="1275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95750" y="495300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K = [0.5, 0, 0, 1.2, 0, 1.0]</a:t>
            </a:r>
            <a:endParaRPr sz="1650" b="1">
              <a:solidFill>
                <a:srgbClr val="2F6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3257550"/>
            <a:ext cx="2514600" cy="2857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04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OBJECTIVES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课题目标是完成一个可验证的最小优化闭环。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先限制一维 float，是为了降低风险并保证结果可复现。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219075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62000" y="2190750"/>
            <a:ext cx="76200" cy="127635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71550" y="2362200"/>
            <a:ext cx="2019300" cy="155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识别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71550" y="2705100"/>
            <a:ext cx="2019300" cy="8877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识别 reduce_prod - (K &amp; X)，并区分 direct 常量和运行期输入。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62350" y="219075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62350" y="2190750"/>
            <a:ext cx="76200" cy="127635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771900" y="2362200"/>
            <a:ext cx="2019300" cy="155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生成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771900" y="2705100"/>
            <a:ext cx="2019300" cy="8877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创建输出 datadesc，生成 malloc、memset 和非零位置赋值。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62700" y="219075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362700" y="2190750"/>
            <a:ext cx="76200" cy="1276350"/>
          </a:xfrm>
          <a:prstGeom prst="rect">
            <a:avLst/>
          </a:prstGeom>
          <a:solidFill>
            <a:srgbClr val="C7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72250" y="2362200"/>
            <a:ext cx="2019300" cy="155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验证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572250" y="2705100"/>
            <a:ext cx="2019300" cy="8877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用朴素逐元素乘法对比生成函数输出，确认正确性。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63050" y="219075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163050" y="2190750"/>
            <a:ext cx="76200" cy="1276350"/>
          </a:xfrm>
          <a:prstGeom prst="rect">
            <a:avLst/>
          </a:prstGeom>
          <a:solidFill>
            <a:srgbClr val="E4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372600" y="2362200"/>
            <a:ext cx="2019300" cy="155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扩展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372600" y="2705100"/>
            <a:ext cx="2019300" cy="8877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为 double、多维和更复杂表达式留下清晰扩展点。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05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ROUTE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技术路线从框架理解走向插件化代码生成。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每一步都有明确输入、输出和验证方式。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2438400"/>
            <a:ext cx="1714500" cy="1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4400" y="2571750"/>
            <a:ext cx="1409700" cy="17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框架阅读</a:t>
            </a:r>
            <a:endParaRPr sz="1350" b="1">
              <a:solidFill>
                <a:srgbClr val="2F6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14400" y="2857500"/>
            <a:ext cx="1409700" cy="6584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梳理 datadesc/block/target/plugin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476500" y="3105150"/>
            <a:ext cx="4762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952750" y="2438400"/>
            <a:ext cx="1714500" cy="1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9A8A"/>
            </a:solidFill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105150" y="2571750"/>
            <a:ext cx="1409700" cy="17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结构匹配</a:t>
            </a:r>
            <a:endParaRPr sz="1350" b="1">
              <a:solidFill>
                <a:srgbClr val="1E9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105150" y="2857500"/>
            <a:ext cx="1409700" cy="6584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锁定 sparse const 目标结构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67250" y="3105150"/>
            <a:ext cx="4762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143500" y="2438400"/>
            <a:ext cx="1714500" cy="1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952D"/>
            </a:solidFill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295900" y="2571750"/>
            <a:ext cx="1409700" cy="17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代码生成</a:t>
            </a:r>
            <a:endParaRPr sz="1350" b="1">
              <a:solidFill>
                <a:srgbClr val="C79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295900" y="2857500"/>
            <a:ext cx="1409700" cy="6584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发射 C99 特化代码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858000" y="3105150"/>
            <a:ext cx="4762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334250" y="2438400"/>
            <a:ext cx="1714500" cy="1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45D4F"/>
            </a:solidFill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486650" y="2571750"/>
            <a:ext cx="1409700" cy="17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E45D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D4F"/>
                </a:solidFill>
                <a:latin typeface="Aptos"/>
                <a:ea typeface="Aptos"/>
                <a:cs typeface="Aptos"/>
              </a:rPr>
              <a:t>环境适配</a:t>
            </a:r>
            <a:endParaRPr sz="1350" b="1">
              <a:solidFill>
                <a:srgbClr val="E45D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486650" y="2857500"/>
            <a:ext cx="1409700" cy="6584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处理 MinGW/GCC 构建差异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048750" y="3105150"/>
            <a:ext cx="4762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525000" y="2438400"/>
            <a:ext cx="1714500" cy="1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4304A"/>
            </a:solidFill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677400" y="2571750"/>
            <a:ext cx="1409700" cy="17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2430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4A"/>
                </a:solidFill>
                <a:latin typeface="Aptos"/>
                <a:ea typeface="Aptos"/>
                <a:cs typeface="Aptos"/>
              </a:rPr>
              <a:t>验证总结</a:t>
            </a:r>
            <a:endParaRPr sz="1350" b="1">
              <a:solidFill>
                <a:srgbClr val="2430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677400" y="2857500"/>
            <a:ext cx="1409700" cy="6584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形成报告与汇报材料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400300" y="4762500"/>
            <a:ext cx="742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原则：先做可验证最小闭环，再扩大支持范围。</a:t>
            </a:r>
            <a:endParaRPr sz="18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06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PLUGIN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插件把结构匹配、合法性检查和特化生成放在一起。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命中后只为非零系数位置发射 C99 赋值语句。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152650"/>
            <a:ext cx="2381250" cy="979805"/>
          </a:xfrm>
          <a:prstGeom prst="rect">
            <a:avLst/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286000"/>
            <a:ext cx="2076450" cy="1784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1. 匹配 block</a:t>
            </a:r>
            <a:endParaRPr sz="1350" b="1">
              <a:solidFill>
                <a:srgbClr val="2F6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571750"/>
            <a:ext cx="2076450" cy="5638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串联结构左侧为 reduce_prod，右侧为 K &amp; X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95700" y="2152650"/>
            <a:ext cx="2381250" cy="979805"/>
          </a:xfrm>
          <a:prstGeom prst="rect">
            <a:avLst/>
          </a:prstGeom>
          <a:solidFill>
            <a:srgbClr val="FFFFFF"/>
          </a:solidFill>
          <a:ln w="19050">
            <a:solidFill>
              <a:srgbClr val="1E9A8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48100" y="2286000"/>
            <a:ext cx="2076450" cy="1784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2. 检查数据</a:t>
            </a:r>
            <a:endParaRPr sz="1350" b="1">
              <a:solidFill>
                <a:srgbClr val="1E9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48100" y="2571750"/>
            <a:ext cx="2076450" cy="5638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K 为 region_direct，X 为非 direct，一维 float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15100" y="2152650"/>
            <a:ext cx="2381250" cy="979805"/>
          </a:xfrm>
          <a:prstGeom prst="rect">
            <a:avLst/>
          </a:prstGeom>
          <a:solidFill>
            <a:srgbClr val="FFFFFF"/>
          </a:solidFill>
          <a:ln w="19050">
            <a:solidFill>
              <a:srgbClr val="C7952D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2286000"/>
            <a:ext cx="2076450" cy="1784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3. 发射代码</a:t>
            </a:r>
            <a:endParaRPr sz="1350" b="1">
              <a:solidFill>
                <a:srgbClr val="C79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0" y="2571750"/>
            <a:ext cx="2076450" cy="5638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输出清零，只遍历非零常量位置生成赋值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334500" y="2152650"/>
            <a:ext cx="2000250" cy="979805"/>
          </a:xfrm>
          <a:prstGeom prst="rect">
            <a:avLst/>
          </a:prstGeom>
          <a:solidFill>
            <a:srgbClr val="FFFFFF"/>
          </a:solidFill>
          <a:ln w="19050">
            <a:solidFill>
              <a:srgbClr val="E45D4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86900" y="2286000"/>
            <a:ext cx="1695450" cy="1784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E45D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D4F"/>
                </a:solidFill>
                <a:latin typeface="Aptos"/>
                <a:ea typeface="Aptos"/>
                <a:cs typeface="Aptos"/>
              </a:rPr>
              <a:t>4. 返回结果</a:t>
            </a:r>
            <a:endParaRPr sz="1350" b="1">
              <a:solidFill>
                <a:srgbClr val="E45D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86900" y="2571750"/>
            <a:ext cx="1695450" cy="5638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返回新的 region_main datadesc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257550" y="2781300"/>
            <a:ext cx="4381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76950" y="2781300"/>
            <a:ext cx="4381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896350" y="2781300"/>
            <a:ext cx="43815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952750" y="4191000"/>
            <a:ext cx="6286500" cy="1066800"/>
          </a:xfrm>
          <a:prstGeom prst="rect">
            <a:avLst/>
          </a:prstGeom>
          <a:solidFill>
            <a:srgbClr val="172033"/>
          </a:solidFill>
          <a:ln w="9525">
            <a:solidFill>
              <a:srgbClr val="344054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124200" y="4343400"/>
            <a:ext cx="5943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if K[i] == 0: skip</a:t>
            </a:r>
            <a:endParaRPr sz="1350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if K[i] == 1: out[i] = x[i]</a:t>
            </a:r>
            <a:endParaRPr sz="1350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else: out[i] = K[i] * x[i]</a:t>
            </a:r>
            <a:endParaRPr sz="1350" b="0">
              <a:solidFill>
                <a:srgbClr val="E8EDF7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07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VALIDATION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验证设计要证明生成代码与朴素计算一致。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测试闭环包括构造 block、生成 dump_sparse.c、编译并对比输出。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247900"/>
            <a:ext cx="2476500" cy="965835"/>
          </a:xfrm>
          <a:prstGeom prst="rect">
            <a:avLst/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2381250"/>
            <a:ext cx="2171700" cy="1549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生成测试</a:t>
            </a:r>
            <a:endParaRPr sz="1350" b="1">
              <a:solidFill>
                <a:srgbClr val="2F6B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2667000"/>
            <a:ext cx="2171700" cy="6051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构造长度 16 的稀疏 K 和 input_x，调用 block2data。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14750" y="2247900"/>
            <a:ext cx="2476500" cy="965835"/>
          </a:xfrm>
          <a:prstGeom prst="rect">
            <a:avLst/>
          </a:prstGeom>
          <a:solidFill>
            <a:srgbClr val="FFFFFF"/>
          </a:solidFill>
          <a:ln w="19050">
            <a:solidFill>
              <a:srgbClr val="1E9A8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67150" y="2381250"/>
            <a:ext cx="2171700" cy="1549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落盘编译</a:t>
            </a:r>
            <a:endParaRPr sz="1350" b="1">
              <a:solidFill>
                <a:srgbClr val="1E9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67150" y="2667000"/>
            <a:ext cx="2171700" cy="6051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把 target 缓冲区写成 dump_sparse.c，并编译生成函数。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72250" y="2247900"/>
            <a:ext cx="2476500" cy="965835"/>
          </a:xfrm>
          <a:prstGeom prst="rect">
            <a:avLst/>
          </a:prstGeom>
          <a:solidFill>
            <a:srgbClr val="FFFFFF"/>
          </a:solidFill>
          <a:ln w="19050">
            <a:solidFill>
              <a:srgbClr val="C7952D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24650" y="2381250"/>
            <a:ext cx="2171700" cy="1549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结果对比</a:t>
            </a:r>
            <a:endParaRPr sz="1350" b="1">
              <a:solidFill>
                <a:srgbClr val="C79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24650" y="2667000"/>
            <a:ext cx="2171700" cy="6051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ones 输入与 ramp 输入分别对比朴素实现。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429750" y="2247900"/>
            <a:ext cx="1619250" cy="965835"/>
          </a:xfrm>
          <a:prstGeom prst="rect">
            <a:avLst/>
          </a:prstGeom>
          <a:solidFill>
            <a:srgbClr val="FFFFFF"/>
          </a:solidFill>
          <a:ln w="19050">
            <a:solidFill>
              <a:srgbClr val="E45D4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82150" y="2381250"/>
            <a:ext cx="1314450" cy="1549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1">
                <a:solidFill>
                  <a:srgbClr val="E45D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5D4F"/>
                </a:solidFill>
                <a:latin typeface="Aptos"/>
                <a:ea typeface="Aptos"/>
                <a:cs typeface="Aptos"/>
              </a:rPr>
              <a:t>通过标准</a:t>
            </a:r>
            <a:endParaRPr sz="1350" b="1">
              <a:solidFill>
                <a:srgbClr val="E45D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82150" y="2667000"/>
            <a:ext cx="1314450" cy="6051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误差小于 1e-6，输出 OK。</a:t>
            </a:r>
            <a:endParaRPr sz="10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333750" y="2952750"/>
            <a:ext cx="38100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2952750"/>
            <a:ext cx="38100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48750" y="2952750"/>
            <a:ext cx="381000" cy="76200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08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/>
          <p:cNvSpPr>
            <a:spLocks noGrp="1"/>
          </p:cNvSpPr>
          <p:nvPr/>
        </p:nvSpPr>
        <p:spPr>
          <a:xfrm>
            <a:off x="514350" y="400050"/>
            <a:ext cx="85725" cy="85725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38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ctr"/>
          <a:lstStyle/>
          <a:p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OUTCOMES</a:t>
            </a:r>
            <a:endParaRPr sz="975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85800"/>
            <a:ext cx="7048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预期成果是一条可扩展的代码生成优化路径。</a:t>
            </a:r>
            <a:endParaRPr sz="2625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81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后续可扩展到 double、多维数组和更复杂科学计算表达式。</a:t>
            </a:r>
            <a:endParaRPr sz="127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171700"/>
            <a:ext cx="3143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171700"/>
            <a:ext cx="57150" cy="2286000"/>
          </a:xfrm>
          <a:prstGeom prst="rect">
            <a:avLst/>
          </a:prstGeom>
          <a:solidFill>
            <a:srgbClr val="2F6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3431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代码成果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686050"/>
            <a:ext cx="27813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新增 block2data_sparse_const 插件、target 注册和测试入口。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24375" y="2171700"/>
            <a:ext cx="3143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24375" y="2171700"/>
            <a:ext cx="57150" cy="2286000"/>
          </a:xfrm>
          <a:prstGeom prst="rect">
            <a:avLst/>
          </a:prstGeom>
          <a:solidFill>
            <a:srgbClr val="1E9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33925" y="23431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文档成果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33925" y="2686050"/>
            <a:ext cx="27813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形成开题报告、中期报告和课堂汇报材料。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2171700"/>
            <a:ext cx="31432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6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2171700"/>
            <a:ext cx="57150" cy="2286000"/>
          </a:xfrm>
          <a:prstGeom prst="rect">
            <a:avLst/>
          </a:prstGeom>
          <a:solidFill>
            <a:srgbClr val="C795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01050" y="23431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研究价值</a:t>
            </a:r>
            <a:endParaRPr sz="14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686050"/>
            <a:ext cx="27813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证明框架可以利用生成期已知数据特征做代码特化。</a:t>
            </a:r>
            <a:endParaRPr sz="1125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00250" y="5124450"/>
            <a:ext cx="819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后续方向：double / 多维数组 / 稀疏矩阵向量乘法 / 代价模型</a:t>
            </a:r>
            <a:endParaRPr sz="17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" y="6438900"/>
            <a:ext cx="10096500" cy="9525"/>
          </a:xfrm>
          <a:prstGeom prst="rect">
            <a:avLst/>
          </a:prstGeom>
          <a:solidFill>
            <a:srgbClr val="CFD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53415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开题报告</a:t>
            </a:r>
            <a:endParaRPr sz="750" b="0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334750" y="6515100"/>
            <a:ext cx="361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09</a:t>
            </a:r>
            <a:endParaRPr sz="900" b="1">
              <a:solidFill>
                <a:srgbClr val="64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2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3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4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5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6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7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8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9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0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1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2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3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4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5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6.xml><?xml version="1.0" encoding="utf-8"?>
<p:tagLst xmlns:p="http://schemas.openxmlformats.org/presentationml/2006/main">
  <p:tag name="KSO_WM_DIAGRAM_VIRTUALLY_FRAME" val="{&quot;height&quot;:172.5,&quot;left&quot;:60,&quot;top&quot;:172.5,&quot;width&quot;:849}"/>
</p:tagLst>
</file>

<file path=ppt/tags/tag17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18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19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0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1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2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3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4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5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6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7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8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29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30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31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32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33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34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ags/tag35.xml><?xml version="1.0" encoding="utf-8"?>
<p:tagLst xmlns:p="http://schemas.openxmlformats.org/presentationml/2006/main">
  <p:tag name="KSO_WM_DIAGRAM_VIRTUALLY_FRAME" val="{&quot;height&quot;:108.75,&quot;left&quot;:60,&quot;top&quot;:192,&quot;width&quot;:8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WPS 演示</Application>
  <PresentationFormat>Converted Presentation</PresentationFormat>
  <Paragraphs>239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Aptos</vt:lpstr>
      <vt:lpstr>Segoe UI</vt:lpstr>
      <vt:lpstr>Aptos Display</vt:lpstr>
      <vt:lpstr>Aptos Mono</vt:lpstr>
      <vt:lpstr>Segoe UI Variable Display</vt:lpstr>
      <vt:lpstr>Cascadia Mono SemiLight</vt:lpstr>
      <vt:lpstr>Calibri</vt:lpstr>
      <vt:lpstr>微软雅黑</vt:lpstr>
      <vt:lpstr>Arial Unicode MS</vt:lpstr>
      <vt:lpstr>Aptos</vt:lpstr>
      <vt:lpstr>Aptos Display</vt:lpstr>
      <vt:lpstr>Aptos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赵婉彤</cp:lastModifiedBy>
  <cp:revision>1</cp:revision>
  <dcterms:created xsi:type="dcterms:W3CDTF">2026-06-12T16:35:23Z</dcterms:created>
  <dcterms:modified xsi:type="dcterms:W3CDTF">2026-06-12T16:35:23Z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05DF0EAB9B9C41C0BEDE9F7F477DC9BE_12</vt:lpwstr>
  </property>
</Properties>
</file>